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4"/>
  </p:notesMasterIdLst>
  <p:handoutMasterIdLst>
    <p:handoutMasterId r:id="rId15"/>
  </p:handoutMasterIdLst>
  <p:sldIdLst>
    <p:sldId id="257" r:id="rId3"/>
    <p:sldId id="258" r:id="rId4"/>
    <p:sldId id="259" r:id="rId5"/>
    <p:sldId id="260" r:id="rId6"/>
    <p:sldId id="270" r:id="rId7"/>
    <p:sldId id="271" r:id="rId8"/>
    <p:sldId id="272" r:id="rId9"/>
    <p:sldId id="273" r:id="rId10"/>
    <p:sldId id="274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686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5" d="100"/>
          <a:sy n="95" d="100"/>
        </p:scale>
        <p:origin x="272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D63D5444-F62C-42C3-A75A-D9DBA807730F}" type="datetimeFigureOut">
              <a:rPr lang="en-US" altLang="zh-TW" smtClean="0"/>
              <a:t>7/22/2016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84A4F617-7A30-41D4-AB86-5D833C98E18B}" type="slidenum">
              <a:rPr lang="zh-TW" smtClean="0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994624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12CAA1FA-7B6A-47D2-8D61-F225D71B51FF}" type="datetimeFigureOut">
              <a:t>2016/7/22</a:t>
            </a:fld>
            <a:endParaRPr 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1B9A179D-2D27-49E2-B022-8EDDA2EFE682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7460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手繪多邊形 11"/>
          <p:cNvSpPr>
            <a:spLocks noChangeArrowheads="1"/>
          </p:cNvSpPr>
          <p:nvPr/>
        </p:nvSpPr>
        <p:spPr bwMode="white">
          <a:xfrm>
            <a:off x="8429022" y="0"/>
            <a:ext cx="3762978" cy="6858000"/>
          </a:xfrm>
          <a:custGeom>
            <a:avLst/>
            <a:gdLst>
              <a:gd name="connsiteX0" fmla="*/ 0 w 3762978"/>
              <a:gd name="connsiteY0" fmla="*/ 0 h 6858000"/>
              <a:gd name="connsiteX1" fmla="*/ 3762978 w 3762978"/>
              <a:gd name="connsiteY1" fmla="*/ 0 h 6858000"/>
              <a:gd name="connsiteX2" fmla="*/ 3762978 w 3762978"/>
              <a:gd name="connsiteY2" fmla="*/ 6858000 h 6858000"/>
              <a:gd name="connsiteX3" fmla="*/ 338667 w 3762978"/>
              <a:gd name="connsiteY3" fmla="*/ 6858000 h 6858000"/>
              <a:gd name="connsiteX4" fmla="*/ 1189567 w 3762978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978" h="6858000">
                <a:moveTo>
                  <a:pt x="0" y="0"/>
                </a:moveTo>
                <a:lnTo>
                  <a:pt x="3762978" y="0"/>
                </a:lnTo>
                <a:lnTo>
                  <a:pt x="3762978" y="6858000"/>
                </a:lnTo>
                <a:lnTo>
                  <a:pt x="338667" y="6858000"/>
                </a:lnTo>
                <a:lnTo>
                  <a:pt x="1189567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TW" sz="1800"/>
          </a:p>
        </p:txBody>
      </p:sp>
      <p:sp>
        <p:nvSpPr>
          <p:cNvPr id="7" name="手繪多邊形 6"/>
          <p:cNvSpPr>
            <a:spLocks/>
          </p:cNvSpPr>
          <p:nvPr/>
        </p:nvSpPr>
        <p:spPr bwMode="auto">
          <a:xfrm>
            <a:off x="8145385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7950653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0" y="1873584"/>
            <a:ext cx="6400800" cy="2560320"/>
          </a:xfrm>
        </p:spPr>
        <p:txBody>
          <a:bodyPr anchor="b">
            <a:normAutofit/>
          </a:bodyPr>
          <a:lstStyle>
            <a:lvl1pPr algn="l" latinLnBrk="0">
              <a:defRPr lang="zh-TW" sz="400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0" y="4572000"/>
            <a:ext cx="6400800" cy="1600200"/>
          </a:xfrm>
        </p:spPr>
        <p:txBody>
          <a:bodyPr/>
          <a:lstStyle>
            <a:lvl1pPr marL="0" indent="0" algn="l" latinLnBrk="0">
              <a:spcBef>
                <a:spcPts val="1200"/>
              </a:spcBef>
              <a:buNone/>
              <a:defRPr lang="zh-TW" sz="2400"/>
            </a:lvl1pPr>
            <a:lvl2pPr marL="457200" indent="0" algn="ctr" latinLnBrk="0">
              <a:buNone/>
              <a:defRPr lang="zh-TW" sz="2000"/>
            </a:lvl2pPr>
            <a:lvl3pPr marL="914400" indent="0" algn="ctr" latinLnBrk="0">
              <a:buNone/>
              <a:defRPr lang="zh-TW" sz="1800"/>
            </a:lvl3pPr>
            <a:lvl4pPr marL="1371600" indent="0" algn="ctr" latinLnBrk="0">
              <a:buNone/>
              <a:defRPr lang="zh-TW" sz="1600"/>
            </a:lvl4pPr>
            <a:lvl5pPr marL="1828800" indent="0" algn="ctr" latinLnBrk="0">
              <a:buNone/>
              <a:defRPr lang="zh-TW" sz="1600"/>
            </a:lvl5pPr>
            <a:lvl6pPr marL="2286000" indent="0" algn="ctr" latinLnBrk="0">
              <a:buNone/>
              <a:defRPr lang="zh-TW" sz="1600"/>
            </a:lvl6pPr>
            <a:lvl7pPr marL="2743200" indent="0" algn="ctr" latinLnBrk="0">
              <a:buNone/>
              <a:defRPr lang="zh-TW" sz="1600"/>
            </a:lvl7pPr>
            <a:lvl8pPr marL="3200400" indent="0" algn="ctr" latinLnBrk="0">
              <a:buNone/>
              <a:defRPr lang="zh-TW" sz="1600"/>
            </a:lvl8pPr>
            <a:lvl9pPr marL="3657600" indent="0" algn="ctr" latinLnBrk="0">
              <a:buNone/>
              <a:defRPr lang="zh-TW"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1258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2016/7/22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9618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含圖片的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5"/>
          <p:cNvSpPr>
            <a:spLocks noChangeArrowheads="1"/>
          </p:cNvSpPr>
          <p:nvPr/>
        </p:nvSpPr>
        <p:spPr bwMode="white">
          <a:xfrm>
            <a:off x="6540503" y="0"/>
            <a:ext cx="5651496" cy="6858000"/>
          </a:xfrm>
          <a:custGeom>
            <a:avLst/>
            <a:gdLst/>
            <a:ahLst/>
            <a:cxnLst/>
            <a:rect l="l" t="t" r="r" b="b"/>
            <a:pathLst>
              <a:path w="4238622" h="6858000">
                <a:moveTo>
                  <a:pt x="0" y="0"/>
                </a:moveTo>
                <a:lnTo>
                  <a:pt x="4086222" y="0"/>
                </a:lnTo>
                <a:lnTo>
                  <a:pt x="4237035" y="0"/>
                </a:lnTo>
                <a:lnTo>
                  <a:pt x="4238622" y="0"/>
                </a:lnTo>
                <a:lnTo>
                  <a:pt x="4238622" y="6858000"/>
                </a:lnTo>
                <a:lnTo>
                  <a:pt x="4237035" y="6858000"/>
                </a:lnTo>
                <a:lnTo>
                  <a:pt x="4086222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sz="1800"/>
          </a:p>
        </p:txBody>
      </p:sp>
      <p:sp>
        <p:nvSpPr>
          <p:cNvPr id="11" name="手繪多邊形 6"/>
          <p:cNvSpPr>
            <a:spLocks/>
          </p:cNvSpPr>
          <p:nvPr/>
        </p:nvSpPr>
        <p:spPr bwMode="auto">
          <a:xfrm>
            <a:off x="6256868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12" name="手繪多邊形 7"/>
          <p:cNvSpPr>
            <a:spLocks/>
          </p:cNvSpPr>
          <p:nvPr/>
        </p:nvSpPr>
        <p:spPr bwMode="auto">
          <a:xfrm>
            <a:off x="6062136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1" y="1873584"/>
            <a:ext cx="5120640" cy="2560320"/>
          </a:xfrm>
        </p:spPr>
        <p:txBody>
          <a:bodyPr anchor="b">
            <a:normAutofit/>
          </a:bodyPr>
          <a:lstStyle>
            <a:lvl1pPr algn="l" latinLnBrk="0">
              <a:defRPr lang="zh-TW" sz="400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1" y="4572000"/>
            <a:ext cx="5120640" cy="1600200"/>
          </a:xfrm>
        </p:spPr>
        <p:txBody>
          <a:bodyPr/>
          <a:lstStyle>
            <a:lvl1pPr marL="0" indent="0" algn="l" latinLnBrk="0">
              <a:buNone/>
              <a:defRPr lang="zh-TW" sz="2400"/>
            </a:lvl1pPr>
            <a:lvl2pPr marL="457200" indent="0" algn="ctr" latinLnBrk="0">
              <a:buNone/>
              <a:defRPr lang="zh-TW" sz="2000"/>
            </a:lvl2pPr>
            <a:lvl3pPr marL="914400" indent="0" algn="ctr" latinLnBrk="0">
              <a:buNone/>
              <a:defRPr lang="zh-TW" sz="1800"/>
            </a:lvl3pPr>
            <a:lvl4pPr marL="1371600" indent="0" algn="ctr" latinLnBrk="0">
              <a:buNone/>
              <a:defRPr lang="zh-TW" sz="1600"/>
            </a:lvl4pPr>
            <a:lvl5pPr marL="1828800" indent="0" algn="ctr" latinLnBrk="0">
              <a:buNone/>
              <a:defRPr lang="zh-TW" sz="1600"/>
            </a:lvl5pPr>
            <a:lvl6pPr marL="2286000" indent="0" algn="ctr" latinLnBrk="0">
              <a:buNone/>
              <a:defRPr lang="zh-TW" sz="1600"/>
            </a:lvl6pPr>
            <a:lvl7pPr marL="2743200" indent="0" algn="ctr" latinLnBrk="0">
              <a:buNone/>
              <a:defRPr lang="zh-TW" sz="1600"/>
            </a:lvl7pPr>
            <a:lvl8pPr marL="3200400" indent="0" algn="ctr" latinLnBrk="0">
              <a:buNone/>
              <a:defRPr lang="zh-TW" sz="1600"/>
            </a:lvl8pPr>
            <a:lvl9pPr marL="3657600" indent="0" algn="ctr" latinLnBrk="0">
              <a:buNone/>
              <a:defRPr lang="zh-TW"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/>
          </a:p>
        </p:txBody>
      </p:sp>
      <p:sp>
        <p:nvSpPr>
          <p:cNvPr id="15" name="圖片版面配置區 14"/>
          <p:cNvSpPr>
            <a:spLocks noGrp="1"/>
          </p:cNvSpPr>
          <p:nvPr>
            <p:ph type="pic" sz="quarter" idx="10"/>
          </p:nvPr>
        </p:nvSpPr>
        <p:spPr>
          <a:xfrm>
            <a:off x="6743703" y="0"/>
            <a:ext cx="5448297" cy="6858000"/>
          </a:xfrm>
          <a:custGeom>
            <a:avLst/>
            <a:gdLst>
              <a:gd name="connsiteX0" fmla="*/ 0 w 5448297"/>
              <a:gd name="connsiteY0" fmla="*/ 0 h 6858000"/>
              <a:gd name="connsiteX1" fmla="*/ 5448297 w 5448297"/>
              <a:gd name="connsiteY1" fmla="*/ 0 h 6858000"/>
              <a:gd name="connsiteX2" fmla="*/ 5448297 w 5448297"/>
              <a:gd name="connsiteY2" fmla="*/ 6858000 h 6858000"/>
              <a:gd name="connsiteX3" fmla="*/ 338667 w 5448297"/>
              <a:gd name="connsiteY3" fmla="*/ 6858000 h 6858000"/>
              <a:gd name="connsiteX4" fmla="*/ 1185333 w 5448297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8297" h="6858000">
                <a:moveTo>
                  <a:pt x="0" y="0"/>
                </a:moveTo>
                <a:lnTo>
                  <a:pt x="5448297" y="0"/>
                </a:lnTo>
                <a:lnTo>
                  <a:pt x="5448297" y="6858000"/>
                </a:lnTo>
                <a:lnTo>
                  <a:pt x="338667" y="6858000"/>
                </a:lnTo>
                <a:lnTo>
                  <a:pt x="1185333" y="433705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tIns="365760">
            <a:noAutofit/>
          </a:bodyPr>
          <a:lstStyle>
            <a:lvl1pPr marL="0" indent="0" algn="ctr" latinLnBrk="0">
              <a:buNone/>
              <a:defRPr lang="zh-TW" sz="2800">
                <a:solidFill>
                  <a:schemeClr val="bg1"/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/>
          </a:p>
        </p:txBody>
      </p:sp>
      <p:sp>
        <p:nvSpPr>
          <p:cNvPr id="16" name="說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sz="1200" b="1">
                <a:latin typeface="Arial" pitchFamily="34" charset="0"/>
                <a:cs typeface="Arial" pitchFamily="34" charset="0"/>
              </a:rPr>
              <a:t>備註：</a:t>
            </a:r>
          </a:p>
          <a:p>
            <a:r>
              <a:rPr lang="zh-TW" sz="1200">
                <a:latin typeface="Arial" pitchFamily="34" charset="0"/>
                <a:cs typeface="Arial" pitchFamily="34" charset="0"/>
              </a:rPr>
              <a:t>若要變更此投影片的圖像，請選取該圖片並加以刪除。接著按一下預留位置的 [圖片] 圖示以插入自訂圖像。</a:t>
            </a:r>
          </a:p>
        </p:txBody>
      </p:sp>
    </p:spTree>
    <p:extLst>
      <p:ext uri="{BB962C8B-B14F-4D97-AF65-F5344CB8AC3E}">
        <p14:creationId xmlns:p14="http://schemas.microsoft.com/office/powerpoint/2010/main" val="240281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5"/>
          <p:cNvSpPr>
            <a:spLocks noChangeArrowheads="1"/>
          </p:cNvSpPr>
          <p:nvPr/>
        </p:nvSpPr>
        <p:spPr bwMode="white">
          <a:xfrm>
            <a:off x="9622368" y="0"/>
            <a:ext cx="2569632" cy="6858000"/>
          </a:xfrm>
          <a:custGeom>
            <a:avLst/>
            <a:gdLst/>
            <a:ahLst/>
            <a:cxnLst/>
            <a:rect l="l" t="t" r="r" b="b"/>
            <a:pathLst>
              <a:path w="1927224" h="6858000">
                <a:moveTo>
                  <a:pt x="0" y="0"/>
                </a:moveTo>
                <a:lnTo>
                  <a:pt x="1927224" y="0"/>
                </a:lnTo>
                <a:lnTo>
                  <a:pt x="192722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sz="1800"/>
          </a:p>
        </p:txBody>
      </p:sp>
      <p:sp>
        <p:nvSpPr>
          <p:cNvPr id="8" name="手繪多邊形 6"/>
          <p:cNvSpPr>
            <a:spLocks/>
          </p:cNvSpPr>
          <p:nvPr/>
        </p:nvSpPr>
        <p:spPr bwMode="auto">
          <a:xfrm>
            <a:off x="9237132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9" name="手繪多邊形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10" name="手繪多邊形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398" y="2914650"/>
            <a:ext cx="8046720" cy="1557338"/>
          </a:xfrm>
        </p:spPr>
        <p:txBody>
          <a:bodyPr anchor="b">
            <a:normAutofit/>
          </a:bodyPr>
          <a:lstStyle>
            <a:lvl1pPr latinLnBrk="0">
              <a:defRPr lang="zh-TW" sz="320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398" y="4589463"/>
            <a:ext cx="8046718" cy="1011237"/>
          </a:xfrm>
        </p:spPr>
        <p:txBody>
          <a:bodyPr/>
          <a:lstStyle>
            <a:lvl1pPr marL="0" indent="0" latinLnBrk="0">
              <a:spcBef>
                <a:spcPts val="1200"/>
              </a:spcBef>
              <a:buNone/>
              <a:defRPr lang="zh-TW" sz="2400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1964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0" y="1828799"/>
            <a:ext cx="4572000" cy="4343401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2016/7/22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4820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>
            <a:lvl1pPr marL="0" indent="0" latinLnBrk="0">
              <a:buNone/>
              <a:defRPr lang="zh-TW" sz="26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295400" y="2705100"/>
            <a:ext cx="4572000" cy="34671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24600" y="1828800"/>
            <a:ext cx="4572000" cy="847725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TW" sz="26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324600" y="2705100"/>
            <a:ext cx="4572000" cy="34671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2016/7/22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60236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2016/7/22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39733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2016/7/22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98363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latinLnBrk="0">
              <a:defRPr lang="zh-TW"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28209" y="1828800"/>
            <a:ext cx="6126480" cy="4343400"/>
          </a:xfrm>
        </p:spPr>
        <p:txBody>
          <a:bodyPr>
            <a:normAutofit/>
          </a:bodyPr>
          <a:lstStyle>
            <a:lvl1pPr latinLnBrk="0">
              <a:defRPr lang="zh-TW" sz="2400"/>
            </a:lvl1pPr>
            <a:lvl2pPr latinLnBrk="0">
              <a:defRPr lang="zh-TW" sz="2000"/>
            </a:lvl2pPr>
            <a:lvl3pPr latinLnBrk="0">
              <a:defRPr lang="zh-TW" sz="1800"/>
            </a:lvl3pPr>
            <a:lvl4pPr latinLnBrk="0">
              <a:defRPr lang="zh-TW" sz="1600"/>
            </a:lvl4pPr>
            <a:lvl5pPr latinLnBrk="0">
              <a:defRPr lang="zh-TW" sz="1600"/>
            </a:lvl5pPr>
            <a:lvl6pPr latinLnBrk="0">
              <a:defRPr lang="zh-TW" sz="2000"/>
            </a:lvl6pPr>
            <a:lvl7pPr latinLnBrk="0">
              <a:defRPr lang="zh-TW" sz="2000"/>
            </a:lvl7pPr>
            <a:lvl8pPr latinLnBrk="0">
              <a:defRPr lang="zh-TW" sz="2000"/>
            </a:lvl8pPr>
            <a:lvl9pPr latinLnBrk="0">
              <a:defRPr lang="zh-TW"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2000"/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2016/7/22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476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 latinLnBrk="0">
              <a:defRPr lang="zh-TW"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724400" y="1828801"/>
            <a:ext cx="6172200" cy="4343400"/>
          </a:xfrm>
        </p:spPr>
        <p:txBody>
          <a:bodyPr tIns="274320">
            <a:normAutofit/>
          </a:bodyPr>
          <a:lstStyle>
            <a:lvl1pPr marL="0" indent="0" algn="ctr" latinLnBrk="0">
              <a:buNone/>
              <a:defRPr lang="zh-TW" sz="24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 smtClean="0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2000"/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2016/7/22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675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兩個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295400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 latinLnBrk="0">
              <a:defRPr lang="zh-TW"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371273" y="5333098"/>
            <a:ext cx="4420252" cy="839102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1800">
                <a:solidFill>
                  <a:schemeClr val="bg1"/>
                </a:solidFill>
              </a:defRPr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2016/7/22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  <p:sp>
        <p:nvSpPr>
          <p:cNvPr id="10" name="矩形 9"/>
          <p:cNvSpPr/>
          <p:nvPr/>
        </p:nvSpPr>
        <p:spPr>
          <a:xfrm>
            <a:off x="6324599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11" name="矩形 10"/>
          <p:cNvSpPr/>
          <p:nvPr/>
        </p:nvSpPr>
        <p:spPr>
          <a:xfrm>
            <a:off x="1295400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矩形 11"/>
          <p:cNvSpPr/>
          <p:nvPr/>
        </p:nvSpPr>
        <p:spPr>
          <a:xfrm>
            <a:off x="6324599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文字版面配置區 3"/>
          <p:cNvSpPr>
            <a:spLocks noGrp="1"/>
          </p:cNvSpPr>
          <p:nvPr>
            <p:ph type="body" sz="half" idx="14"/>
          </p:nvPr>
        </p:nvSpPr>
        <p:spPr>
          <a:xfrm>
            <a:off x="6412954" y="5333098"/>
            <a:ext cx="4420252" cy="839102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1800">
                <a:solidFill>
                  <a:schemeClr val="bg1"/>
                </a:solidFill>
              </a:defRPr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295400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 latinLnBrk="0">
              <a:buNone/>
              <a:defRPr lang="zh-TW" sz="24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 smtClean="0"/>
              <a:t>按一下圖示以新增圖片</a:t>
            </a:r>
            <a:endParaRPr lang="zh-TW"/>
          </a:p>
        </p:txBody>
      </p:sp>
      <p:sp>
        <p:nvSpPr>
          <p:cNvPr id="8" name="圖片版面配置區 2"/>
          <p:cNvSpPr>
            <a:spLocks noGrp="1"/>
          </p:cNvSpPr>
          <p:nvPr>
            <p:ph type="pic" idx="13"/>
          </p:nvPr>
        </p:nvSpPr>
        <p:spPr>
          <a:xfrm>
            <a:off x="6324600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 latinLnBrk="0">
              <a:buNone/>
              <a:defRPr lang="zh-TW" sz="24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 smtClean="0"/>
              <a:t>按一下圖示以新增圖片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94401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2016/7/22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929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 rot="5400000">
            <a:off x="7562850" y="2228850"/>
            <a:ext cx="6858000" cy="2400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8" name="矩形 7"/>
          <p:cNvSpPr/>
          <p:nvPr/>
        </p:nvSpPr>
        <p:spPr>
          <a:xfrm rot="5400000">
            <a:off x="6331230" y="3387909"/>
            <a:ext cx="6858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9" name="矩形 8"/>
          <p:cNvSpPr/>
          <p:nvPr/>
        </p:nvSpPr>
        <p:spPr>
          <a:xfrm rot="5400000">
            <a:off x="6251613" y="3387909"/>
            <a:ext cx="6858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9871318" y="685800"/>
            <a:ext cx="1033272" cy="54864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95400" y="685800"/>
            <a:ext cx="7976754" cy="54864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2016/7/22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80411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white">
          <a:xfrm>
            <a:off x="0" y="0"/>
            <a:ext cx="12192000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8" name="矩形 7"/>
          <p:cNvSpPr/>
          <p:nvPr userDrawn="1"/>
        </p:nvSpPr>
        <p:spPr>
          <a:xfrm>
            <a:off x="0" y="1371600"/>
            <a:ext cx="12192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9" name="矩形 8"/>
          <p:cNvSpPr/>
          <p:nvPr userDrawn="1"/>
        </p:nvSpPr>
        <p:spPr>
          <a:xfrm>
            <a:off x="0" y="1443006"/>
            <a:ext cx="12192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9601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791449" y="6374999"/>
            <a:ext cx="148070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1000">
                <a:solidFill>
                  <a:schemeClr val="tx1"/>
                </a:solidFill>
              </a:defRPr>
            </a:lvl1pPr>
          </a:lstStyle>
          <a:p>
            <a:fld id="{A79A3335-6331-4872-A8B7-ECD55539F4D0}" type="datetimeFigureOut">
              <a:pPr/>
              <a:t>2016/7/22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295399" y="6374999"/>
            <a:ext cx="624320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1000">
                <a:solidFill>
                  <a:schemeClr val="tx1"/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525000" y="6374999"/>
            <a:ext cx="1371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1000">
                <a:solidFill>
                  <a:schemeClr val="tx1"/>
                </a:solidFill>
              </a:defRPr>
            </a:lvl1pPr>
          </a:lstStyle>
          <a:p>
            <a:fld id="{A7F8E3F6-DE14-48B2-B2BC-6FABA9630FB8}" type="slidenum"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947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1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lang="zh-TW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 smtClean="0"/>
              <a:t>系統</a:t>
            </a:r>
            <a:r>
              <a:rPr lang="zh-TW" altLang="en-US" sz="3600" dirty="0"/>
              <a:t>架構正交分解法</a:t>
            </a:r>
            <a:endParaRPr lang="zh-TW" sz="3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Clark</a:t>
            </a:r>
            <a:endParaRPr lang="zh-TW" dirty="0"/>
          </a:p>
        </p:txBody>
      </p:sp>
      <p:pic>
        <p:nvPicPr>
          <p:cNvPr id="5" name="圖片版面配置區 4" descr="動態模糊顯示的城市街道" title="範例圖片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8059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815664"/>
              </p:ext>
            </p:extLst>
          </p:nvPr>
        </p:nvGraphicFramePr>
        <p:xfrm>
          <a:off x="303877" y="229213"/>
          <a:ext cx="12630728" cy="6470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2027"/>
                <a:gridCol w="3589149"/>
                <a:gridCol w="3898565"/>
                <a:gridCol w="3980987"/>
              </a:tblGrid>
              <a:tr h="6867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01781" y="1580801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展示層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82" y="3520438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邏輯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81" y="5460075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存</a:t>
            </a:r>
            <a:r>
              <a:rPr lang="zh-TW" altLang="en-US" dirty="0"/>
              <a:t>取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18641" y="303412"/>
            <a:ext cx="1615704" cy="5403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應用架構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57402" y="303412"/>
            <a:ext cx="1616400" cy="54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技術</a:t>
            </a:r>
            <a:r>
              <a:rPr lang="zh-TW" altLang="en-US" dirty="0" smtClean="0"/>
              <a:t>架構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190702" y="303412"/>
            <a:ext cx="1616400" cy="54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監控架構</a:t>
            </a:r>
            <a:endParaRPr lang="zh-TW" alt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5288280" y="1580801"/>
            <a:ext cx="3539835" cy="540328"/>
            <a:chOff x="5288280" y="1580801"/>
            <a:chExt cx="3539835" cy="540328"/>
          </a:xfrm>
        </p:grpSpPr>
        <p:sp>
          <p:nvSpPr>
            <p:cNvPr id="9" name="矩形 8"/>
            <p:cNvSpPr/>
            <p:nvPr/>
          </p:nvSpPr>
          <p:spPr>
            <a:xfrm>
              <a:off x="5288280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/>
                <a:t>WebSite</a:t>
              </a:r>
              <a:r>
                <a:rPr lang="zh-TW" altLang="en-US" dirty="0"/>
                <a:t>框架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233457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WebAPI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288280" y="3104801"/>
            <a:ext cx="3539835" cy="1371601"/>
            <a:chOff x="5288280" y="3104801"/>
            <a:chExt cx="3539835" cy="1371601"/>
          </a:xfrm>
        </p:grpSpPr>
        <p:sp>
          <p:nvSpPr>
            <p:cNvPr id="11" name="矩形 10"/>
            <p:cNvSpPr/>
            <p:nvPr/>
          </p:nvSpPr>
          <p:spPr>
            <a:xfrm>
              <a:off x="5288280" y="3104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</a:t>
              </a:r>
              <a:r>
                <a:rPr lang="zh-TW" altLang="en-US" dirty="0"/>
                <a:t>管理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233456" y="3104801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消息隊列框架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288280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服務</a:t>
              </a:r>
              <a:r>
                <a:rPr lang="zh-TW" altLang="en-US" dirty="0" smtClean="0"/>
                <a:t>容器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7233457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排程作業框架</a:t>
              </a: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1544878" y="1178931"/>
            <a:ext cx="3392882" cy="1406590"/>
            <a:chOff x="1544878" y="1178931"/>
            <a:chExt cx="3392882" cy="1406590"/>
          </a:xfrm>
        </p:grpSpPr>
        <p:sp>
          <p:nvSpPr>
            <p:cNvPr id="21" name="矩形 20"/>
            <p:cNvSpPr/>
            <p:nvPr/>
          </p:nvSpPr>
          <p:spPr>
            <a:xfrm>
              <a:off x="1544878" y="204552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商品管理介面</a:t>
              </a:r>
              <a:endParaRPr lang="zh-TW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327909" y="1178931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客戶資料介面</a:t>
              </a:r>
              <a:endParaRPr lang="zh-TW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1544878" y="117893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賣場管理介面</a:t>
              </a:r>
              <a:endParaRPr lang="zh-TW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3327446" y="2045521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訂單管理介面</a:t>
              </a:r>
              <a:endParaRPr lang="zh-TW" altLang="en-US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1544877" y="3104801"/>
            <a:ext cx="3392882" cy="1406590"/>
            <a:chOff x="1544877" y="3104801"/>
            <a:chExt cx="3392882" cy="1406590"/>
          </a:xfrm>
        </p:grpSpPr>
        <p:sp>
          <p:nvSpPr>
            <p:cNvPr id="31" name="矩形 30"/>
            <p:cNvSpPr/>
            <p:nvPr/>
          </p:nvSpPr>
          <p:spPr>
            <a:xfrm>
              <a:off x="1544877" y="397139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商品管理服務</a:t>
              </a:r>
              <a:endParaRPr lang="zh-TW" altLang="en-US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3327908" y="3104801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客戶資料服務</a:t>
              </a:r>
              <a:endParaRPr lang="zh-TW" altLang="en-US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544877" y="310480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賣場管理服務</a:t>
              </a:r>
              <a:endParaRPr lang="zh-TW" altLang="en-US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3327445" y="3971391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訂單管理服務</a:t>
              </a:r>
              <a:endParaRPr lang="zh-TW" altLang="en-US" dirty="0"/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9221579" y="1580801"/>
            <a:ext cx="3539834" cy="540328"/>
            <a:chOff x="9221579" y="1580801"/>
            <a:chExt cx="3539834" cy="540328"/>
          </a:xfrm>
        </p:grpSpPr>
        <p:sp>
          <p:nvSpPr>
            <p:cNvPr id="41" name="矩形 40"/>
            <p:cNvSpPr/>
            <p:nvPr/>
          </p:nvSpPr>
          <p:spPr>
            <a:xfrm>
              <a:off x="9221579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WebSite</a:t>
              </a:r>
              <a:r>
                <a:rPr lang="zh-TW" altLang="en-US" dirty="0"/>
                <a:t>監控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11166755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WebAPI</a:t>
              </a:r>
              <a:r>
                <a:rPr lang="zh-TW" altLang="en-US" dirty="0"/>
                <a:t>監控</a:t>
              </a: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9221579" y="3104801"/>
            <a:ext cx="3539836" cy="1363646"/>
            <a:chOff x="9221579" y="3104801"/>
            <a:chExt cx="3539836" cy="1363646"/>
          </a:xfrm>
        </p:grpSpPr>
        <p:sp>
          <p:nvSpPr>
            <p:cNvPr id="43" name="矩形 42"/>
            <p:cNvSpPr/>
            <p:nvPr/>
          </p:nvSpPr>
          <p:spPr>
            <a:xfrm>
              <a:off x="9221580" y="3104801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</a:t>
              </a:r>
              <a:r>
                <a:rPr lang="zh-TW" altLang="en-US" dirty="0"/>
                <a:t>管理</a:t>
              </a:r>
              <a:r>
                <a:rPr lang="zh-TW" altLang="en-US" dirty="0" smtClean="0"/>
                <a:t>監控</a:t>
              </a:r>
              <a:endParaRPr lang="zh-TW" altLang="en-US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11166756" y="3104801"/>
              <a:ext cx="1594659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消息隊</a:t>
              </a:r>
              <a:r>
                <a:rPr lang="zh-TW" altLang="en-US" dirty="0" smtClean="0"/>
                <a:t>列</a:t>
              </a:r>
              <a:r>
                <a:rPr lang="zh-TW" altLang="en-US" dirty="0"/>
                <a:t>監控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9221579" y="3928119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服務容</a:t>
              </a:r>
              <a:r>
                <a:rPr lang="zh-TW" altLang="en-US" dirty="0"/>
                <a:t>器</a:t>
              </a:r>
              <a:r>
                <a:rPr lang="zh-TW" altLang="en-US" dirty="0" smtClean="0"/>
                <a:t>監控</a:t>
              </a:r>
              <a:endParaRPr lang="zh-TW" altLang="en-US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166756" y="3928119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排程</a:t>
              </a:r>
              <a:r>
                <a:rPr lang="zh-TW" altLang="en-US" dirty="0" smtClean="0"/>
                <a:t>作業</a:t>
              </a:r>
              <a:r>
                <a:rPr lang="zh-TW" altLang="en-US" dirty="0"/>
                <a:t>監控</a:t>
              </a:r>
            </a:p>
          </p:txBody>
        </p:sp>
      </p:grpSp>
      <p:sp>
        <p:nvSpPr>
          <p:cNvPr id="50" name="向右箭號 49"/>
          <p:cNvSpPr/>
          <p:nvPr/>
        </p:nvSpPr>
        <p:spPr>
          <a:xfrm>
            <a:off x="4787780" y="1526241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向右箭號 50"/>
          <p:cNvSpPr/>
          <p:nvPr/>
        </p:nvSpPr>
        <p:spPr>
          <a:xfrm>
            <a:off x="4763876" y="3472717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向右箭號 52"/>
          <p:cNvSpPr/>
          <p:nvPr/>
        </p:nvSpPr>
        <p:spPr>
          <a:xfrm flipH="1">
            <a:off x="8717619" y="1523303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向右箭號 53"/>
          <p:cNvSpPr/>
          <p:nvPr/>
        </p:nvSpPr>
        <p:spPr>
          <a:xfrm flipH="1">
            <a:off x="8714161" y="3462940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向右箭號 54"/>
          <p:cNvSpPr/>
          <p:nvPr/>
        </p:nvSpPr>
        <p:spPr>
          <a:xfrm flipH="1">
            <a:off x="8708613" y="5402576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向下箭號 55"/>
          <p:cNvSpPr/>
          <p:nvPr/>
        </p:nvSpPr>
        <p:spPr>
          <a:xfrm>
            <a:off x="2890614" y="2550405"/>
            <a:ext cx="673331" cy="66682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/>
          <p:cNvGrpSpPr/>
          <p:nvPr/>
        </p:nvGrpSpPr>
        <p:grpSpPr>
          <a:xfrm>
            <a:off x="5288278" y="4968309"/>
            <a:ext cx="3539836" cy="1478209"/>
            <a:chOff x="5288278" y="4968309"/>
            <a:chExt cx="3539836" cy="1478209"/>
          </a:xfrm>
        </p:grpSpPr>
        <p:sp>
          <p:nvSpPr>
            <p:cNvPr id="17" name="矩形 16"/>
            <p:cNvSpPr/>
            <p:nvPr/>
          </p:nvSpPr>
          <p:spPr>
            <a:xfrm>
              <a:off x="7233455" y="49730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資料快取框架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5288279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讀寫分離框架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7233456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分庫分表框架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5288278" y="49683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資料存取框架</a:t>
              </a:r>
              <a:endParaRPr lang="zh-TW" altLang="en-US" dirty="0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9221579" y="4963523"/>
            <a:ext cx="3539834" cy="1482995"/>
            <a:chOff x="9221579" y="4963523"/>
            <a:chExt cx="3539834" cy="1482995"/>
          </a:xfrm>
        </p:grpSpPr>
        <p:sp>
          <p:nvSpPr>
            <p:cNvPr id="47" name="矩形 46"/>
            <p:cNvSpPr/>
            <p:nvPr/>
          </p:nvSpPr>
          <p:spPr>
            <a:xfrm>
              <a:off x="11166754" y="4963523"/>
              <a:ext cx="1594659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資料快</a:t>
              </a:r>
              <a:r>
                <a:rPr lang="zh-TW" altLang="en-US" dirty="0" smtClean="0"/>
                <a:t>取監控</a:t>
              </a:r>
              <a:endParaRPr lang="zh-TW" altLang="en-US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9221579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讀寫</a:t>
              </a:r>
              <a:r>
                <a:rPr lang="zh-TW" altLang="en-US" dirty="0" smtClean="0"/>
                <a:t>分離監控</a:t>
              </a:r>
              <a:endParaRPr lang="zh-TW" altLang="en-US" dirty="0"/>
            </a:p>
          </p:txBody>
        </p:sp>
        <p:sp>
          <p:nvSpPr>
            <p:cNvPr id="49" name="矩形 48"/>
            <p:cNvSpPr/>
            <p:nvPr/>
          </p:nvSpPr>
          <p:spPr>
            <a:xfrm>
              <a:off x="11166755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分庫分</a:t>
              </a:r>
              <a:r>
                <a:rPr lang="zh-TW" altLang="en-US" dirty="0" smtClean="0"/>
                <a:t>表監控</a:t>
              </a:r>
              <a:endParaRPr lang="zh-TW" altLang="en-US" dirty="0"/>
            </a:p>
          </p:txBody>
        </p:sp>
        <p:sp>
          <p:nvSpPr>
            <p:cNvPr id="60" name="矩形 59"/>
            <p:cNvSpPr/>
            <p:nvPr/>
          </p:nvSpPr>
          <p:spPr>
            <a:xfrm>
              <a:off x="9223242" y="4966926"/>
              <a:ext cx="1594659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資料</a:t>
              </a:r>
              <a:r>
                <a:rPr lang="zh-TW" altLang="en-US" dirty="0" smtClean="0"/>
                <a:t>存</a:t>
              </a:r>
              <a:r>
                <a:rPr lang="zh-TW" altLang="en-US" dirty="0"/>
                <a:t>取</a:t>
              </a:r>
              <a:r>
                <a:rPr lang="zh-TW" altLang="en-US" dirty="0" smtClean="0"/>
                <a:t>監控</a:t>
              </a:r>
              <a:endParaRPr lang="zh-TW" altLang="en-US" dirty="0"/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1543612" y="4967254"/>
            <a:ext cx="3392882" cy="1406590"/>
            <a:chOff x="1543612" y="4967254"/>
            <a:chExt cx="3392882" cy="1406590"/>
          </a:xfrm>
        </p:grpSpPr>
        <p:sp>
          <p:nvSpPr>
            <p:cNvPr id="61" name="矩形 60"/>
            <p:cNvSpPr/>
            <p:nvPr/>
          </p:nvSpPr>
          <p:spPr>
            <a:xfrm>
              <a:off x="1543612" y="5833844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</a:t>
              </a:r>
              <a:r>
                <a:rPr lang="zh-TW" altLang="en-US" dirty="0" smtClean="0"/>
                <a:t>管理</a:t>
              </a:r>
              <a:r>
                <a:rPr lang="zh-TW" altLang="en-US" dirty="0"/>
                <a:t>儲存</a:t>
              </a:r>
              <a:endParaRPr lang="zh-TW" altLang="en-US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3326643" y="4967254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</a:t>
              </a:r>
              <a:r>
                <a:rPr lang="zh-TW" altLang="en-US" dirty="0"/>
                <a:t>儲存</a:t>
              </a:r>
              <a:endParaRPr lang="zh-TW" altLang="en-US" dirty="0"/>
            </a:p>
          </p:txBody>
        </p:sp>
        <p:sp>
          <p:nvSpPr>
            <p:cNvPr id="63" name="矩形 62"/>
            <p:cNvSpPr/>
            <p:nvPr/>
          </p:nvSpPr>
          <p:spPr>
            <a:xfrm>
              <a:off x="1543612" y="4967254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</a:t>
              </a:r>
              <a:r>
                <a:rPr lang="zh-TW" altLang="en-US" dirty="0" smtClean="0"/>
                <a:t>管理儲存</a:t>
              </a:r>
              <a:endParaRPr lang="zh-TW" altLang="en-US" dirty="0"/>
            </a:p>
          </p:txBody>
        </p:sp>
        <p:sp>
          <p:nvSpPr>
            <p:cNvPr id="64" name="矩形 63"/>
            <p:cNvSpPr/>
            <p:nvPr/>
          </p:nvSpPr>
          <p:spPr>
            <a:xfrm>
              <a:off x="3326180" y="5833844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</a:t>
              </a:r>
              <a:r>
                <a:rPr lang="zh-TW" altLang="en-US" dirty="0" smtClean="0"/>
                <a:t>管理</a:t>
              </a:r>
              <a:r>
                <a:rPr lang="zh-TW" altLang="en-US" dirty="0"/>
                <a:t>儲存</a:t>
              </a:r>
              <a:endParaRPr lang="zh-TW" altLang="en-US" dirty="0"/>
            </a:p>
          </p:txBody>
        </p:sp>
      </p:grpSp>
      <p:sp>
        <p:nvSpPr>
          <p:cNvPr id="52" name="向右箭號 51"/>
          <p:cNvSpPr/>
          <p:nvPr/>
        </p:nvSpPr>
        <p:spPr>
          <a:xfrm>
            <a:off x="4714349" y="5402577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向下箭號 56"/>
          <p:cNvSpPr/>
          <p:nvPr/>
        </p:nvSpPr>
        <p:spPr>
          <a:xfrm>
            <a:off x="2889827" y="4469071"/>
            <a:ext cx="673331" cy="66682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235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03877" y="229213"/>
          <a:ext cx="12630728" cy="6470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2027"/>
                <a:gridCol w="3589149"/>
                <a:gridCol w="3898565"/>
                <a:gridCol w="3980987"/>
              </a:tblGrid>
              <a:tr h="6867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01781" y="1580801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展示層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82" y="3520438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邏輯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81" y="5460075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存</a:t>
            </a:r>
            <a:r>
              <a:rPr lang="zh-TW" altLang="en-US" dirty="0"/>
              <a:t>取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303877" y="914399"/>
            <a:ext cx="1133037" cy="57856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633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03877" y="229213"/>
          <a:ext cx="12630728" cy="6470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2027"/>
                <a:gridCol w="3589149"/>
                <a:gridCol w="3898565"/>
                <a:gridCol w="3980987"/>
              </a:tblGrid>
              <a:tr h="6867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01781" y="1580801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展示層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82" y="3520438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邏輯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81" y="5460075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存</a:t>
            </a:r>
            <a:r>
              <a:rPr lang="zh-TW" altLang="en-US" dirty="0"/>
              <a:t>取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18641" y="303412"/>
            <a:ext cx="1615704" cy="5403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應用架構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57402" y="303412"/>
            <a:ext cx="1616400" cy="54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技術</a:t>
            </a:r>
            <a:r>
              <a:rPr lang="zh-TW" altLang="en-US" dirty="0" smtClean="0"/>
              <a:t>架構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190702" y="303412"/>
            <a:ext cx="1616400" cy="54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監控架構</a:t>
            </a:r>
            <a:endParaRPr lang="zh-TW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1480457" y="229213"/>
            <a:ext cx="11454148" cy="65193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570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303877" y="229213"/>
          <a:ext cx="12630728" cy="6470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2027"/>
                <a:gridCol w="3589149"/>
                <a:gridCol w="3898565"/>
                <a:gridCol w="3980987"/>
              </a:tblGrid>
              <a:tr h="6867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01781" y="1580801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展示層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82" y="3520438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邏輯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81" y="5460075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存</a:t>
            </a:r>
            <a:r>
              <a:rPr lang="zh-TW" altLang="en-US" dirty="0"/>
              <a:t>取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18641" y="303412"/>
            <a:ext cx="1615704" cy="5403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應用架構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57402" y="303412"/>
            <a:ext cx="1616400" cy="54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技術</a:t>
            </a:r>
            <a:r>
              <a:rPr lang="zh-TW" altLang="en-US" dirty="0" smtClean="0"/>
              <a:t>架構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190702" y="303412"/>
            <a:ext cx="1616400" cy="54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監控架構</a:t>
            </a:r>
            <a:endParaRPr lang="zh-TW" alt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5288280" y="1580801"/>
            <a:ext cx="3539835" cy="540328"/>
            <a:chOff x="5288280" y="1580801"/>
            <a:chExt cx="3539835" cy="540328"/>
          </a:xfrm>
        </p:grpSpPr>
        <p:sp>
          <p:nvSpPr>
            <p:cNvPr id="9" name="矩形 8"/>
            <p:cNvSpPr/>
            <p:nvPr/>
          </p:nvSpPr>
          <p:spPr>
            <a:xfrm>
              <a:off x="5288280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/>
                <a:t>WebSite</a:t>
              </a:r>
              <a:r>
                <a:rPr lang="zh-TW" altLang="en-US" dirty="0"/>
                <a:t>框架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233457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WebAPI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</p:grpSp>
      <p:sp>
        <p:nvSpPr>
          <p:cNvPr id="59" name="矩形 58"/>
          <p:cNvSpPr/>
          <p:nvPr/>
        </p:nvSpPr>
        <p:spPr>
          <a:xfrm>
            <a:off x="5061857" y="917939"/>
            <a:ext cx="3897086" cy="18959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44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303877" y="229213"/>
          <a:ext cx="12630728" cy="6470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2027"/>
                <a:gridCol w="3589149"/>
                <a:gridCol w="3898565"/>
                <a:gridCol w="3980987"/>
              </a:tblGrid>
              <a:tr h="6867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01781" y="1580801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展示層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82" y="3520438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邏輯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81" y="5460075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存</a:t>
            </a:r>
            <a:r>
              <a:rPr lang="zh-TW" altLang="en-US" dirty="0"/>
              <a:t>取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18641" y="303412"/>
            <a:ext cx="1615704" cy="5403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應用架構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57402" y="303412"/>
            <a:ext cx="1616400" cy="54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技術</a:t>
            </a:r>
            <a:r>
              <a:rPr lang="zh-TW" altLang="en-US" dirty="0" smtClean="0"/>
              <a:t>架構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190702" y="303412"/>
            <a:ext cx="1616400" cy="54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監控架構</a:t>
            </a:r>
            <a:endParaRPr lang="zh-TW" alt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5288280" y="1580801"/>
            <a:ext cx="3539835" cy="540328"/>
            <a:chOff x="5288280" y="1580801"/>
            <a:chExt cx="3539835" cy="540328"/>
          </a:xfrm>
        </p:grpSpPr>
        <p:sp>
          <p:nvSpPr>
            <p:cNvPr id="9" name="矩形 8"/>
            <p:cNvSpPr/>
            <p:nvPr/>
          </p:nvSpPr>
          <p:spPr>
            <a:xfrm>
              <a:off x="5288280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/>
                <a:t>WebSite</a:t>
              </a:r>
              <a:r>
                <a:rPr lang="zh-TW" altLang="en-US" dirty="0"/>
                <a:t>框架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233457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WebAPI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288280" y="3104801"/>
            <a:ext cx="3539835" cy="1371601"/>
            <a:chOff x="5288280" y="3104801"/>
            <a:chExt cx="3539835" cy="1371601"/>
          </a:xfrm>
        </p:grpSpPr>
        <p:sp>
          <p:nvSpPr>
            <p:cNvPr id="11" name="矩形 10"/>
            <p:cNvSpPr/>
            <p:nvPr/>
          </p:nvSpPr>
          <p:spPr>
            <a:xfrm>
              <a:off x="5288280" y="3104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</a:t>
              </a:r>
              <a:r>
                <a:rPr lang="zh-TW" altLang="en-US" dirty="0"/>
                <a:t>管理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233456" y="3104801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消息隊列框架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288280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服務</a:t>
              </a:r>
              <a:r>
                <a:rPr lang="zh-TW" altLang="en-US" dirty="0" smtClean="0"/>
                <a:t>容器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7233457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排程作業框架</a:t>
              </a:r>
            </a:p>
          </p:txBody>
        </p:sp>
      </p:grpSp>
      <p:sp>
        <p:nvSpPr>
          <p:cNvPr id="59" name="矩形 58"/>
          <p:cNvSpPr/>
          <p:nvPr/>
        </p:nvSpPr>
        <p:spPr>
          <a:xfrm>
            <a:off x="5061857" y="2844713"/>
            <a:ext cx="3897086" cy="18959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07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303877" y="229213"/>
          <a:ext cx="12630728" cy="6470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2027"/>
                <a:gridCol w="3589149"/>
                <a:gridCol w="3898565"/>
                <a:gridCol w="3980987"/>
              </a:tblGrid>
              <a:tr h="6867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01781" y="1580801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展示層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82" y="3520438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邏輯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81" y="5460075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存</a:t>
            </a:r>
            <a:r>
              <a:rPr lang="zh-TW" altLang="en-US" dirty="0"/>
              <a:t>取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18641" y="303412"/>
            <a:ext cx="1615704" cy="5403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應用架構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57402" y="303412"/>
            <a:ext cx="1616400" cy="54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技術</a:t>
            </a:r>
            <a:r>
              <a:rPr lang="zh-TW" altLang="en-US" dirty="0" smtClean="0"/>
              <a:t>架構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190702" y="303412"/>
            <a:ext cx="1616400" cy="54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監控架構</a:t>
            </a:r>
            <a:endParaRPr lang="zh-TW" alt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5288280" y="1580801"/>
            <a:ext cx="3539835" cy="540328"/>
            <a:chOff x="5288280" y="1580801"/>
            <a:chExt cx="3539835" cy="540328"/>
          </a:xfrm>
        </p:grpSpPr>
        <p:sp>
          <p:nvSpPr>
            <p:cNvPr id="9" name="矩形 8"/>
            <p:cNvSpPr/>
            <p:nvPr/>
          </p:nvSpPr>
          <p:spPr>
            <a:xfrm>
              <a:off x="5288280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/>
                <a:t>WebSite</a:t>
              </a:r>
              <a:r>
                <a:rPr lang="zh-TW" altLang="en-US" dirty="0"/>
                <a:t>框架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233457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WebAPI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288280" y="3104801"/>
            <a:ext cx="3539835" cy="1371601"/>
            <a:chOff x="5288280" y="3104801"/>
            <a:chExt cx="3539835" cy="1371601"/>
          </a:xfrm>
        </p:grpSpPr>
        <p:sp>
          <p:nvSpPr>
            <p:cNvPr id="11" name="矩形 10"/>
            <p:cNvSpPr/>
            <p:nvPr/>
          </p:nvSpPr>
          <p:spPr>
            <a:xfrm>
              <a:off x="5288280" y="3104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</a:t>
              </a:r>
              <a:r>
                <a:rPr lang="zh-TW" altLang="en-US" dirty="0"/>
                <a:t>管理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233456" y="3104801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消息隊列框架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288280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服務</a:t>
              </a:r>
              <a:r>
                <a:rPr lang="zh-TW" altLang="en-US" dirty="0" smtClean="0"/>
                <a:t>容器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7233457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排程作業框架</a:t>
              </a: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5288278" y="4968309"/>
            <a:ext cx="3539836" cy="1478209"/>
            <a:chOff x="5288278" y="4968309"/>
            <a:chExt cx="3539836" cy="1478209"/>
          </a:xfrm>
        </p:grpSpPr>
        <p:sp>
          <p:nvSpPr>
            <p:cNvPr id="17" name="矩形 16"/>
            <p:cNvSpPr/>
            <p:nvPr/>
          </p:nvSpPr>
          <p:spPr>
            <a:xfrm>
              <a:off x="7233455" y="49730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資料快取框架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5288279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讀寫分離框架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7233456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分庫分表框架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5288278" y="49683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資料存取框架</a:t>
              </a:r>
              <a:endParaRPr lang="zh-TW" altLang="en-US" dirty="0"/>
            </a:p>
          </p:txBody>
        </p:sp>
      </p:grpSp>
      <p:sp>
        <p:nvSpPr>
          <p:cNvPr id="59" name="矩形 58"/>
          <p:cNvSpPr/>
          <p:nvPr/>
        </p:nvSpPr>
        <p:spPr>
          <a:xfrm>
            <a:off x="5061857" y="4793260"/>
            <a:ext cx="3897086" cy="18959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39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303877" y="229213"/>
          <a:ext cx="12630728" cy="6470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2027"/>
                <a:gridCol w="3589149"/>
                <a:gridCol w="3898565"/>
                <a:gridCol w="3980987"/>
              </a:tblGrid>
              <a:tr h="6867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01781" y="1580801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展示層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82" y="3520438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邏輯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81" y="5460075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存</a:t>
            </a:r>
            <a:r>
              <a:rPr lang="zh-TW" altLang="en-US" dirty="0"/>
              <a:t>取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18641" y="303412"/>
            <a:ext cx="1615704" cy="5403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應用架構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57402" y="303412"/>
            <a:ext cx="1616400" cy="54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技術</a:t>
            </a:r>
            <a:r>
              <a:rPr lang="zh-TW" altLang="en-US" dirty="0" smtClean="0"/>
              <a:t>架構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190702" y="303412"/>
            <a:ext cx="1616400" cy="54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監控架構</a:t>
            </a:r>
            <a:endParaRPr lang="zh-TW" alt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5288280" y="1580801"/>
            <a:ext cx="3539835" cy="540328"/>
            <a:chOff x="5288280" y="1580801"/>
            <a:chExt cx="3539835" cy="540328"/>
          </a:xfrm>
        </p:grpSpPr>
        <p:sp>
          <p:nvSpPr>
            <p:cNvPr id="9" name="矩形 8"/>
            <p:cNvSpPr/>
            <p:nvPr/>
          </p:nvSpPr>
          <p:spPr>
            <a:xfrm>
              <a:off x="5288280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/>
                <a:t>WebSite</a:t>
              </a:r>
              <a:r>
                <a:rPr lang="zh-TW" altLang="en-US" dirty="0"/>
                <a:t>框架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233457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WebAPI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288280" y="3104801"/>
            <a:ext cx="3539835" cy="1371601"/>
            <a:chOff x="5288280" y="3104801"/>
            <a:chExt cx="3539835" cy="1371601"/>
          </a:xfrm>
        </p:grpSpPr>
        <p:sp>
          <p:nvSpPr>
            <p:cNvPr id="11" name="矩形 10"/>
            <p:cNvSpPr/>
            <p:nvPr/>
          </p:nvSpPr>
          <p:spPr>
            <a:xfrm>
              <a:off x="5288280" y="3104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</a:t>
              </a:r>
              <a:r>
                <a:rPr lang="zh-TW" altLang="en-US" dirty="0"/>
                <a:t>管理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233456" y="3104801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消息隊列框架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288280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服務</a:t>
              </a:r>
              <a:r>
                <a:rPr lang="zh-TW" altLang="en-US" dirty="0" smtClean="0"/>
                <a:t>容器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7233457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排程作業框架</a:t>
              </a: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1544878" y="1178931"/>
            <a:ext cx="3392882" cy="1406590"/>
            <a:chOff x="1544878" y="1178931"/>
            <a:chExt cx="3392882" cy="1406590"/>
          </a:xfrm>
        </p:grpSpPr>
        <p:sp>
          <p:nvSpPr>
            <p:cNvPr id="21" name="矩形 20"/>
            <p:cNvSpPr/>
            <p:nvPr/>
          </p:nvSpPr>
          <p:spPr>
            <a:xfrm>
              <a:off x="1544878" y="204552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商品管理介面</a:t>
              </a:r>
              <a:endParaRPr lang="zh-TW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327909" y="1178931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客戶資料介面</a:t>
              </a:r>
              <a:endParaRPr lang="zh-TW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1544878" y="117893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賣場管理介面</a:t>
              </a:r>
              <a:endParaRPr lang="zh-TW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3327446" y="2045521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訂單管理介面</a:t>
              </a:r>
              <a:endParaRPr lang="zh-TW" altLang="en-US" dirty="0"/>
            </a:p>
          </p:txBody>
        </p:sp>
      </p:grpSp>
      <p:sp>
        <p:nvSpPr>
          <p:cNvPr id="50" name="向右箭號 49"/>
          <p:cNvSpPr/>
          <p:nvPr/>
        </p:nvSpPr>
        <p:spPr>
          <a:xfrm>
            <a:off x="4787780" y="1526241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向下箭號 55"/>
          <p:cNvSpPr/>
          <p:nvPr/>
        </p:nvSpPr>
        <p:spPr>
          <a:xfrm>
            <a:off x="2890614" y="2550405"/>
            <a:ext cx="673331" cy="66682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/>
          <p:cNvGrpSpPr/>
          <p:nvPr/>
        </p:nvGrpSpPr>
        <p:grpSpPr>
          <a:xfrm>
            <a:off x="5288278" y="4968309"/>
            <a:ext cx="3539836" cy="1478209"/>
            <a:chOff x="5288278" y="4968309"/>
            <a:chExt cx="3539836" cy="1478209"/>
          </a:xfrm>
        </p:grpSpPr>
        <p:sp>
          <p:nvSpPr>
            <p:cNvPr id="17" name="矩形 16"/>
            <p:cNvSpPr/>
            <p:nvPr/>
          </p:nvSpPr>
          <p:spPr>
            <a:xfrm>
              <a:off x="7233455" y="49730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資料快取框架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5288279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讀寫分離框架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7233456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分庫分表框架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5288278" y="49683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資料存取框架</a:t>
              </a:r>
              <a:endParaRPr lang="zh-TW" altLang="en-US" dirty="0"/>
            </a:p>
          </p:txBody>
        </p:sp>
      </p:grpSp>
      <p:sp>
        <p:nvSpPr>
          <p:cNvPr id="59" name="矩形 58"/>
          <p:cNvSpPr/>
          <p:nvPr/>
        </p:nvSpPr>
        <p:spPr>
          <a:xfrm>
            <a:off x="1447337" y="917939"/>
            <a:ext cx="3592750" cy="18959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000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303877" y="229213"/>
          <a:ext cx="12630728" cy="6470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2027"/>
                <a:gridCol w="3589149"/>
                <a:gridCol w="3898565"/>
                <a:gridCol w="3980987"/>
              </a:tblGrid>
              <a:tr h="6867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01781" y="1580801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展示層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82" y="3520438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邏輯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81" y="5460075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存</a:t>
            </a:r>
            <a:r>
              <a:rPr lang="zh-TW" altLang="en-US" dirty="0"/>
              <a:t>取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18641" y="303412"/>
            <a:ext cx="1615704" cy="5403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應用架構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57402" y="303412"/>
            <a:ext cx="1616400" cy="54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技術</a:t>
            </a:r>
            <a:r>
              <a:rPr lang="zh-TW" altLang="en-US" dirty="0" smtClean="0"/>
              <a:t>架構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190702" y="303412"/>
            <a:ext cx="1616400" cy="54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監控架構</a:t>
            </a:r>
            <a:endParaRPr lang="zh-TW" alt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5288280" y="1580801"/>
            <a:ext cx="3539835" cy="540328"/>
            <a:chOff x="5288280" y="1580801"/>
            <a:chExt cx="3539835" cy="540328"/>
          </a:xfrm>
        </p:grpSpPr>
        <p:sp>
          <p:nvSpPr>
            <p:cNvPr id="9" name="矩形 8"/>
            <p:cNvSpPr/>
            <p:nvPr/>
          </p:nvSpPr>
          <p:spPr>
            <a:xfrm>
              <a:off x="5288280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/>
                <a:t>WebSite</a:t>
              </a:r>
              <a:r>
                <a:rPr lang="zh-TW" altLang="en-US" dirty="0"/>
                <a:t>框架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233457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WebAPI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288280" y="3104801"/>
            <a:ext cx="3539835" cy="1371601"/>
            <a:chOff x="5288280" y="3104801"/>
            <a:chExt cx="3539835" cy="1371601"/>
          </a:xfrm>
        </p:grpSpPr>
        <p:sp>
          <p:nvSpPr>
            <p:cNvPr id="11" name="矩形 10"/>
            <p:cNvSpPr/>
            <p:nvPr/>
          </p:nvSpPr>
          <p:spPr>
            <a:xfrm>
              <a:off x="5288280" y="3104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</a:t>
              </a:r>
              <a:r>
                <a:rPr lang="zh-TW" altLang="en-US" dirty="0"/>
                <a:t>管理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233456" y="3104801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消息隊列框架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288280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服務</a:t>
              </a:r>
              <a:r>
                <a:rPr lang="zh-TW" altLang="en-US" dirty="0" smtClean="0"/>
                <a:t>容器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7233457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排程作業框架</a:t>
              </a: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1544878" y="1178931"/>
            <a:ext cx="3392882" cy="1406590"/>
            <a:chOff x="1544878" y="1178931"/>
            <a:chExt cx="3392882" cy="1406590"/>
          </a:xfrm>
        </p:grpSpPr>
        <p:sp>
          <p:nvSpPr>
            <p:cNvPr id="21" name="矩形 20"/>
            <p:cNvSpPr/>
            <p:nvPr/>
          </p:nvSpPr>
          <p:spPr>
            <a:xfrm>
              <a:off x="1544878" y="204552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商品管理介面</a:t>
              </a:r>
              <a:endParaRPr lang="zh-TW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327909" y="1178931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客戶資料介面</a:t>
              </a:r>
              <a:endParaRPr lang="zh-TW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1544878" y="117893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賣場管理介面</a:t>
              </a:r>
              <a:endParaRPr lang="zh-TW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3327446" y="2045521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訂單管理介面</a:t>
              </a:r>
              <a:endParaRPr lang="zh-TW" altLang="en-US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1544877" y="3104801"/>
            <a:ext cx="3392882" cy="1406590"/>
            <a:chOff x="1544877" y="3104801"/>
            <a:chExt cx="3392882" cy="1406590"/>
          </a:xfrm>
        </p:grpSpPr>
        <p:sp>
          <p:nvSpPr>
            <p:cNvPr id="31" name="矩形 30"/>
            <p:cNvSpPr/>
            <p:nvPr/>
          </p:nvSpPr>
          <p:spPr>
            <a:xfrm>
              <a:off x="1544877" y="397139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商品管理服務</a:t>
              </a:r>
              <a:endParaRPr lang="zh-TW" altLang="en-US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3327908" y="3104801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客戶資料服務</a:t>
              </a:r>
              <a:endParaRPr lang="zh-TW" altLang="en-US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544877" y="310480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賣場管理服務</a:t>
              </a:r>
              <a:endParaRPr lang="zh-TW" altLang="en-US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3327445" y="3971391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訂單管理服務</a:t>
              </a:r>
              <a:endParaRPr lang="zh-TW" altLang="en-US" dirty="0"/>
            </a:p>
          </p:txBody>
        </p:sp>
      </p:grpSp>
      <p:sp>
        <p:nvSpPr>
          <p:cNvPr id="50" name="向右箭號 49"/>
          <p:cNvSpPr/>
          <p:nvPr/>
        </p:nvSpPr>
        <p:spPr>
          <a:xfrm>
            <a:off x="4787780" y="1526241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向右箭號 50"/>
          <p:cNvSpPr/>
          <p:nvPr/>
        </p:nvSpPr>
        <p:spPr>
          <a:xfrm>
            <a:off x="4763876" y="3472717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向下箭號 55"/>
          <p:cNvSpPr/>
          <p:nvPr/>
        </p:nvSpPr>
        <p:spPr>
          <a:xfrm>
            <a:off x="2890614" y="2550405"/>
            <a:ext cx="673331" cy="66682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/>
          <p:cNvGrpSpPr/>
          <p:nvPr/>
        </p:nvGrpSpPr>
        <p:grpSpPr>
          <a:xfrm>
            <a:off x="5288278" y="4968309"/>
            <a:ext cx="3539836" cy="1478209"/>
            <a:chOff x="5288278" y="4968309"/>
            <a:chExt cx="3539836" cy="1478209"/>
          </a:xfrm>
        </p:grpSpPr>
        <p:sp>
          <p:nvSpPr>
            <p:cNvPr id="17" name="矩形 16"/>
            <p:cNvSpPr/>
            <p:nvPr/>
          </p:nvSpPr>
          <p:spPr>
            <a:xfrm>
              <a:off x="7233455" y="49730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資料快取框架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5288279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讀寫分離框架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7233456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分庫分表框架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5288278" y="49683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資料存取框架</a:t>
              </a:r>
              <a:endParaRPr lang="zh-TW" altLang="en-US" dirty="0"/>
            </a:p>
          </p:txBody>
        </p:sp>
      </p:grpSp>
      <p:sp>
        <p:nvSpPr>
          <p:cNvPr id="57" name="向下箭號 56"/>
          <p:cNvSpPr/>
          <p:nvPr/>
        </p:nvSpPr>
        <p:spPr>
          <a:xfrm>
            <a:off x="2889827" y="4469071"/>
            <a:ext cx="673331" cy="66682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1447337" y="2819399"/>
            <a:ext cx="3592750" cy="194854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55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303877" y="229213"/>
          <a:ext cx="12630728" cy="6470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2027"/>
                <a:gridCol w="3589149"/>
                <a:gridCol w="3898565"/>
                <a:gridCol w="3980987"/>
              </a:tblGrid>
              <a:tr h="6867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01781" y="1580801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展示層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82" y="3520438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邏輯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81" y="5460075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存</a:t>
            </a:r>
            <a:r>
              <a:rPr lang="zh-TW" altLang="en-US" dirty="0"/>
              <a:t>取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18641" y="303412"/>
            <a:ext cx="1615704" cy="5403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應用架構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57402" y="303412"/>
            <a:ext cx="1616400" cy="54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技術</a:t>
            </a:r>
            <a:r>
              <a:rPr lang="zh-TW" altLang="en-US" dirty="0" smtClean="0"/>
              <a:t>架構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190702" y="303412"/>
            <a:ext cx="1616400" cy="54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監控架構</a:t>
            </a:r>
            <a:endParaRPr lang="zh-TW" alt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5288280" y="1580801"/>
            <a:ext cx="3539835" cy="540328"/>
            <a:chOff x="5288280" y="1580801"/>
            <a:chExt cx="3539835" cy="540328"/>
          </a:xfrm>
        </p:grpSpPr>
        <p:sp>
          <p:nvSpPr>
            <p:cNvPr id="9" name="矩形 8"/>
            <p:cNvSpPr/>
            <p:nvPr/>
          </p:nvSpPr>
          <p:spPr>
            <a:xfrm>
              <a:off x="5288280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/>
                <a:t>WebSite</a:t>
              </a:r>
              <a:r>
                <a:rPr lang="zh-TW" altLang="en-US" dirty="0"/>
                <a:t>框架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233457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WebAPI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288280" y="3104801"/>
            <a:ext cx="3539835" cy="1371601"/>
            <a:chOff x="5288280" y="3104801"/>
            <a:chExt cx="3539835" cy="1371601"/>
          </a:xfrm>
        </p:grpSpPr>
        <p:sp>
          <p:nvSpPr>
            <p:cNvPr id="11" name="矩形 10"/>
            <p:cNvSpPr/>
            <p:nvPr/>
          </p:nvSpPr>
          <p:spPr>
            <a:xfrm>
              <a:off x="5288280" y="3104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</a:t>
              </a:r>
              <a:r>
                <a:rPr lang="zh-TW" altLang="en-US" dirty="0"/>
                <a:t>管理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233456" y="3104801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消息隊列框架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288280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服務</a:t>
              </a:r>
              <a:r>
                <a:rPr lang="zh-TW" altLang="en-US" dirty="0" smtClean="0"/>
                <a:t>容器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7233457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排程作業框架</a:t>
              </a: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1544878" y="1178931"/>
            <a:ext cx="3392882" cy="1406590"/>
            <a:chOff x="1544878" y="1178931"/>
            <a:chExt cx="3392882" cy="1406590"/>
          </a:xfrm>
        </p:grpSpPr>
        <p:sp>
          <p:nvSpPr>
            <p:cNvPr id="21" name="矩形 20"/>
            <p:cNvSpPr/>
            <p:nvPr/>
          </p:nvSpPr>
          <p:spPr>
            <a:xfrm>
              <a:off x="1544878" y="204552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商品管理介面</a:t>
              </a:r>
              <a:endParaRPr lang="zh-TW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327909" y="1178931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客戶資料介面</a:t>
              </a:r>
              <a:endParaRPr lang="zh-TW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1544878" y="117893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賣場管理介面</a:t>
              </a:r>
              <a:endParaRPr lang="zh-TW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3327446" y="2045521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訂單管理介面</a:t>
              </a:r>
              <a:endParaRPr lang="zh-TW" altLang="en-US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1544877" y="3104801"/>
            <a:ext cx="3392882" cy="1406590"/>
            <a:chOff x="1544877" y="3104801"/>
            <a:chExt cx="3392882" cy="1406590"/>
          </a:xfrm>
        </p:grpSpPr>
        <p:sp>
          <p:nvSpPr>
            <p:cNvPr id="31" name="矩形 30"/>
            <p:cNvSpPr/>
            <p:nvPr/>
          </p:nvSpPr>
          <p:spPr>
            <a:xfrm>
              <a:off x="1544877" y="397139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商品管理服務</a:t>
              </a:r>
              <a:endParaRPr lang="zh-TW" altLang="en-US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3327908" y="3104801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客戶資料服務</a:t>
              </a:r>
              <a:endParaRPr lang="zh-TW" altLang="en-US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544877" y="310480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賣場管理服務</a:t>
              </a:r>
              <a:endParaRPr lang="zh-TW" altLang="en-US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3327445" y="3971391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訂單管理服務</a:t>
              </a:r>
              <a:endParaRPr lang="zh-TW" altLang="en-US" dirty="0"/>
            </a:p>
          </p:txBody>
        </p:sp>
      </p:grpSp>
      <p:sp>
        <p:nvSpPr>
          <p:cNvPr id="50" name="向右箭號 49"/>
          <p:cNvSpPr/>
          <p:nvPr/>
        </p:nvSpPr>
        <p:spPr>
          <a:xfrm>
            <a:off x="4787780" y="1526241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向右箭號 50"/>
          <p:cNvSpPr/>
          <p:nvPr/>
        </p:nvSpPr>
        <p:spPr>
          <a:xfrm>
            <a:off x="4763876" y="3472717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向下箭號 55"/>
          <p:cNvSpPr/>
          <p:nvPr/>
        </p:nvSpPr>
        <p:spPr>
          <a:xfrm>
            <a:off x="2890614" y="2550405"/>
            <a:ext cx="673331" cy="66682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/>
          <p:cNvGrpSpPr/>
          <p:nvPr/>
        </p:nvGrpSpPr>
        <p:grpSpPr>
          <a:xfrm>
            <a:off x="5288278" y="4968309"/>
            <a:ext cx="3539836" cy="1478209"/>
            <a:chOff x="5288278" y="4968309"/>
            <a:chExt cx="3539836" cy="1478209"/>
          </a:xfrm>
        </p:grpSpPr>
        <p:sp>
          <p:nvSpPr>
            <p:cNvPr id="17" name="矩形 16"/>
            <p:cNvSpPr/>
            <p:nvPr/>
          </p:nvSpPr>
          <p:spPr>
            <a:xfrm>
              <a:off x="7233455" y="49730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資料快取框架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5288279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讀寫分離框架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7233456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分庫分表框架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5288278" y="49683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資料存取框架</a:t>
              </a:r>
              <a:endParaRPr lang="zh-TW" altLang="en-US" dirty="0"/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1543612" y="4967254"/>
            <a:ext cx="3392882" cy="1406590"/>
            <a:chOff x="1543612" y="4967254"/>
            <a:chExt cx="3392882" cy="1406590"/>
          </a:xfrm>
        </p:grpSpPr>
        <p:sp>
          <p:nvSpPr>
            <p:cNvPr id="61" name="矩形 60"/>
            <p:cNvSpPr/>
            <p:nvPr/>
          </p:nvSpPr>
          <p:spPr>
            <a:xfrm>
              <a:off x="1543612" y="5833844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</a:t>
              </a:r>
              <a:r>
                <a:rPr lang="zh-TW" altLang="en-US" dirty="0" smtClean="0"/>
                <a:t>管理</a:t>
              </a:r>
              <a:r>
                <a:rPr lang="zh-TW" altLang="en-US" dirty="0"/>
                <a:t>儲存</a:t>
              </a:r>
              <a:endParaRPr lang="zh-TW" altLang="en-US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3326643" y="4967254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</a:t>
              </a:r>
              <a:r>
                <a:rPr lang="zh-TW" altLang="en-US" dirty="0"/>
                <a:t>儲存</a:t>
              </a:r>
              <a:endParaRPr lang="zh-TW" altLang="en-US" dirty="0"/>
            </a:p>
          </p:txBody>
        </p:sp>
        <p:sp>
          <p:nvSpPr>
            <p:cNvPr id="63" name="矩形 62"/>
            <p:cNvSpPr/>
            <p:nvPr/>
          </p:nvSpPr>
          <p:spPr>
            <a:xfrm>
              <a:off x="1543612" y="4967254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</a:t>
              </a:r>
              <a:r>
                <a:rPr lang="zh-TW" altLang="en-US" dirty="0" smtClean="0"/>
                <a:t>管理儲存</a:t>
              </a:r>
              <a:endParaRPr lang="zh-TW" altLang="en-US" dirty="0"/>
            </a:p>
          </p:txBody>
        </p:sp>
        <p:sp>
          <p:nvSpPr>
            <p:cNvPr id="64" name="矩形 63"/>
            <p:cNvSpPr/>
            <p:nvPr/>
          </p:nvSpPr>
          <p:spPr>
            <a:xfrm>
              <a:off x="3326180" y="5833844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</a:t>
              </a:r>
              <a:r>
                <a:rPr lang="zh-TW" altLang="en-US" dirty="0" smtClean="0"/>
                <a:t>管理</a:t>
              </a:r>
              <a:r>
                <a:rPr lang="zh-TW" altLang="en-US" dirty="0"/>
                <a:t>儲存</a:t>
              </a:r>
              <a:endParaRPr lang="zh-TW" altLang="en-US" dirty="0"/>
            </a:p>
          </p:txBody>
        </p:sp>
      </p:grpSp>
      <p:sp>
        <p:nvSpPr>
          <p:cNvPr id="52" name="向右箭號 51"/>
          <p:cNvSpPr/>
          <p:nvPr/>
        </p:nvSpPr>
        <p:spPr>
          <a:xfrm>
            <a:off x="4714349" y="5402577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向下箭號 56"/>
          <p:cNvSpPr/>
          <p:nvPr/>
        </p:nvSpPr>
        <p:spPr>
          <a:xfrm>
            <a:off x="2889827" y="4469071"/>
            <a:ext cx="673331" cy="66682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1447337" y="4757057"/>
            <a:ext cx="3592750" cy="1943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42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303877" y="229213"/>
          <a:ext cx="12630728" cy="6470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62027"/>
                <a:gridCol w="3589149"/>
                <a:gridCol w="3898565"/>
                <a:gridCol w="3980987"/>
              </a:tblGrid>
              <a:tr h="6867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92803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01781" y="1580801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展示層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82" y="3520438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邏輯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81" y="5460075"/>
            <a:ext cx="947651" cy="5403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存</a:t>
            </a:r>
            <a:r>
              <a:rPr lang="zh-TW" altLang="en-US" dirty="0"/>
              <a:t>取</a:t>
            </a:r>
            <a:r>
              <a:rPr lang="zh-TW" altLang="en-US" dirty="0" smtClean="0"/>
              <a:t>層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18641" y="303412"/>
            <a:ext cx="1615704" cy="5403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應用架構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57402" y="303412"/>
            <a:ext cx="1616400" cy="54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技術</a:t>
            </a:r>
            <a:r>
              <a:rPr lang="zh-TW" altLang="en-US" dirty="0" smtClean="0"/>
              <a:t>架構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190702" y="303412"/>
            <a:ext cx="1616400" cy="54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監控架構</a:t>
            </a:r>
            <a:endParaRPr lang="zh-TW" alt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5288280" y="1580801"/>
            <a:ext cx="3539835" cy="540328"/>
            <a:chOff x="5288280" y="1580801"/>
            <a:chExt cx="3539835" cy="540328"/>
          </a:xfrm>
        </p:grpSpPr>
        <p:sp>
          <p:nvSpPr>
            <p:cNvPr id="9" name="矩形 8"/>
            <p:cNvSpPr/>
            <p:nvPr/>
          </p:nvSpPr>
          <p:spPr>
            <a:xfrm>
              <a:off x="5288280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/>
                <a:t>WebSite</a:t>
              </a:r>
              <a:r>
                <a:rPr lang="zh-TW" altLang="en-US" dirty="0"/>
                <a:t>框架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233457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WebAPI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288280" y="3104801"/>
            <a:ext cx="3539835" cy="1371601"/>
            <a:chOff x="5288280" y="3104801"/>
            <a:chExt cx="3539835" cy="1371601"/>
          </a:xfrm>
        </p:grpSpPr>
        <p:sp>
          <p:nvSpPr>
            <p:cNvPr id="11" name="矩形 10"/>
            <p:cNvSpPr/>
            <p:nvPr/>
          </p:nvSpPr>
          <p:spPr>
            <a:xfrm>
              <a:off x="5288280" y="3104801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</a:t>
              </a:r>
              <a:r>
                <a:rPr lang="zh-TW" altLang="en-US" dirty="0"/>
                <a:t>管理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233456" y="3104801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消息隊列框架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288280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服務</a:t>
              </a:r>
              <a:r>
                <a:rPr lang="zh-TW" altLang="en-US" dirty="0" smtClean="0"/>
                <a:t>容器</a:t>
              </a:r>
              <a:r>
                <a:rPr lang="zh-TW" altLang="en-US" dirty="0" smtClean="0"/>
                <a:t>框架</a:t>
              </a:r>
              <a:endParaRPr lang="zh-TW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7233457" y="3936074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排程作業框架</a:t>
              </a: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1544878" y="1178931"/>
            <a:ext cx="3392882" cy="1406590"/>
            <a:chOff x="1544878" y="1178931"/>
            <a:chExt cx="3392882" cy="1406590"/>
          </a:xfrm>
        </p:grpSpPr>
        <p:sp>
          <p:nvSpPr>
            <p:cNvPr id="21" name="矩形 20"/>
            <p:cNvSpPr/>
            <p:nvPr/>
          </p:nvSpPr>
          <p:spPr>
            <a:xfrm>
              <a:off x="1544878" y="204552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商品管理介面</a:t>
              </a:r>
              <a:endParaRPr lang="zh-TW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327909" y="1178931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客戶資料介面</a:t>
              </a:r>
              <a:endParaRPr lang="zh-TW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1544878" y="117893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賣場管理介面</a:t>
              </a:r>
              <a:endParaRPr lang="zh-TW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3327446" y="2045521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訂單管理介面</a:t>
              </a:r>
              <a:endParaRPr lang="zh-TW" altLang="en-US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1544877" y="3104801"/>
            <a:ext cx="3392882" cy="1406590"/>
            <a:chOff x="1544877" y="3104801"/>
            <a:chExt cx="3392882" cy="1406590"/>
          </a:xfrm>
        </p:grpSpPr>
        <p:sp>
          <p:nvSpPr>
            <p:cNvPr id="31" name="矩形 30"/>
            <p:cNvSpPr/>
            <p:nvPr/>
          </p:nvSpPr>
          <p:spPr>
            <a:xfrm>
              <a:off x="1544877" y="397139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商品管理服務</a:t>
              </a:r>
              <a:endParaRPr lang="zh-TW" altLang="en-US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3327908" y="3104801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客戶資料服務</a:t>
              </a:r>
              <a:endParaRPr lang="zh-TW" altLang="en-US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544877" y="3104801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賣場管理服務</a:t>
              </a:r>
              <a:endParaRPr lang="zh-TW" altLang="en-US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3327445" y="3971391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訂單管理服務</a:t>
              </a:r>
              <a:endParaRPr lang="zh-TW" altLang="en-US" dirty="0"/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9221579" y="1580801"/>
            <a:ext cx="3539834" cy="540328"/>
            <a:chOff x="9221579" y="1580801"/>
            <a:chExt cx="3539834" cy="540328"/>
          </a:xfrm>
        </p:grpSpPr>
        <p:sp>
          <p:nvSpPr>
            <p:cNvPr id="41" name="矩形 40"/>
            <p:cNvSpPr/>
            <p:nvPr/>
          </p:nvSpPr>
          <p:spPr>
            <a:xfrm>
              <a:off x="9221579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WebSite</a:t>
              </a:r>
              <a:r>
                <a:rPr lang="zh-TW" altLang="en-US" dirty="0"/>
                <a:t>監控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11166755" y="1580801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WebAPI</a:t>
              </a:r>
              <a:r>
                <a:rPr lang="zh-TW" altLang="en-US" dirty="0"/>
                <a:t>監控</a:t>
              </a: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9221579" y="3104801"/>
            <a:ext cx="3539836" cy="1363646"/>
            <a:chOff x="9221579" y="3104801"/>
            <a:chExt cx="3539836" cy="1363646"/>
          </a:xfrm>
        </p:grpSpPr>
        <p:sp>
          <p:nvSpPr>
            <p:cNvPr id="43" name="矩形 42"/>
            <p:cNvSpPr/>
            <p:nvPr/>
          </p:nvSpPr>
          <p:spPr>
            <a:xfrm>
              <a:off x="9221580" y="3104801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</a:t>
              </a:r>
              <a:r>
                <a:rPr lang="zh-TW" altLang="en-US" dirty="0"/>
                <a:t>管理</a:t>
              </a:r>
              <a:r>
                <a:rPr lang="zh-TW" altLang="en-US" dirty="0" smtClean="0"/>
                <a:t>監控</a:t>
              </a:r>
              <a:endParaRPr lang="zh-TW" altLang="en-US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11166756" y="3104801"/>
              <a:ext cx="1594659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消息隊</a:t>
              </a:r>
              <a:r>
                <a:rPr lang="zh-TW" altLang="en-US" dirty="0" smtClean="0"/>
                <a:t>列</a:t>
              </a:r>
              <a:r>
                <a:rPr lang="zh-TW" altLang="en-US" dirty="0"/>
                <a:t>監控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9221579" y="3928119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服務容</a:t>
              </a:r>
              <a:r>
                <a:rPr lang="zh-TW" altLang="en-US" dirty="0"/>
                <a:t>器</a:t>
              </a:r>
              <a:r>
                <a:rPr lang="zh-TW" altLang="en-US" dirty="0" smtClean="0"/>
                <a:t>監控</a:t>
              </a:r>
              <a:endParaRPr lang="zh-TW" altLang="en-US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166756" y="3928119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排程</a:t>
              </a:r>
              <a:r>
                <a:rPr lang="zh-TW" altLang="en-US" dirty="0" smtClean="0"/>
                <a:t>作業</a:t>
              </a:r>
              <a:r>
                <a:rPr lang="zh-TW" altLang="en-US" dirty="0"/>
                <a:t>監控</a:t>
              </a:r>
            </a:p>
          </p:txBody>
        </p:sp>
      </p:grpSp>
      <p:sp>
        <p:nvSpPr>
          <p:cNvPr id="50" name="向右箭號 49"/>
          <p:cNvSpPr/>
          <p:nvPr/>
        </p:nvSpPr>
        <p:spPr>
          <a:xfrm>
            <a:off x="4787780" y="1526241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向右箭號 50"/>
          <p:cNvSpPr/>
          <p:nvPr/>
        </p:nvSpPr>
        <p:spPr>
          <a:xfrm>
            <a:off x="4763876" y="3472717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向右箭號 52"/>
          <p:cNvSpPr/>
          <p:nvPr/>
        </p:nvSpPr>
        <p:spPr>
          <a:xfrm flipH="1">
            <a:off x="8717619" y="1523303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向右箭號 53"/>
          <p:cNvSpPr/>
          <p:nvPr/>
        </p:nvSpPr>
        <p:spPr>
          <a:xfrm flipH="1">
            <a:off x="8714161" y="3462940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向右箭號 54"/>
          <p:cNvSpPr/>
          <p:nvPr/>
        </p:nvSpPr>
        <p:spPr>
          <a:xfrm flipH="1">
            <a:off x="8708613" y="5402576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向下箭號 55"/>
          <p:cNvSpPr/>
          <p:nvPr/>
        </p:nvSpPr>
        <p:spPr>
          <a:xfrm>
            <a:off x="2890614" y="2550405"/>
            <a:ext cx="673331" cy="66682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/>
          <p:cNvGrpSpPr/>
          <p:nvPr/>
        </p:nvGrpSpPr>
        <p:grpSpPr>
          <a:xfrm>
            <a:off x="5288278" y="4968309"/>
            <a:ext cx="3539836" cy="1478209"/>
            <a:chOff x="5288278" y="4968309"/>
            <a:chExt cx="3539836" cy="1478209"/>
          </a:xfrm>
        </p:grpSpPr>
        <p:sp>
          <p:nvSpPr>
            <p:cNvPr id="17" name="矩形 16"/>
            <p:cNvSpPr/>
            <p:nvPr/>
          </p:nvSpPr>
          <p:spPr>
            <a:xfrm>
              <a:off x="7233455" y="49730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資料快取框架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5288279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讀寫分離框架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7233456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分庫分表框架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5288278" y="4968309"/>
              <a:ext cx="1594659" cy="54032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資料存取框架</a:t>
              </a:r>
              <a:endParaRPr lang="zh-TW" altLang="en-US" dirty="0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9221579" y="4963523"/>
            <a:ext cx="3539834" cy="1482995"/>
            <a:chOff x="9221579" y="4963523"/>
            <a:chExt cx="3539834" cy="1482995"/>
          </a:xfrm>
        </p:grpSpPr>
        <p:sp>
          <p:nvSpPr>
            <p:cNvPr id="47" name="矩形 46"/>
            <p:cNvSpPr/>
            <p:nvPr/>
          </p:nvSpPr>
          <p:spPr>
            <a:xfrm>
              <a:off x="11166754" y="4963523"/>
              <a:ext cx="1594659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資料快</a:t>
              </a:r>
              <a:r>
                <a:rPr lang="zh-TW" altLang="en-US" dirty="0" smtClean="0"/>
                <a:t>取監控</a:t>
              </a:r>
              <a:endParaRPr lang="zh-TW" altLang="en-US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9221579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讀寫</a:t>
              </a:r>
              <a:r>
                <a:rPr lang="zh-TW" altLang="en-US" dirty="0" smtClean="0"/>
                <a:t>分離監控</a:t>
              </a:r>
              <a:endParaRPr lang="zh-TW" altLang="en-US" dirty="0"/>
            </a:p>
          </p:txBody>
        </p:sp>
        <p:sp>
          <p:nvSpPr>
            <p:cNvPr id="49" name="矩形 48"/>
            <p:cNvSpPr/>
            <p:nvPr/>
          </p:nvSpPr>
          <p:spPr>
            <a:xfrm>
              <a:off x="11166755" y="5906190"/>
              <a:ext cx="1594658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分庫分</a:t>
              </a:r>
              <a:r>
                <a:rPr lang="zh-TW" altLang="en-US" dirty="0" smtClean="0"/>
                <a:t>表監控</a:t>
              </a:r>
              <a:endParaRPr lang="zh-TW" altLang="en-US" dirty="0"/>
            </a:p>
          </p:txBody>
        </p:sp>
        <p:sp>
          <p:nvSpPr>
            <p:cNvPr id="60" name="矩形 59"/>
            <p:cNvSpPr/>
            <p:nvPr/>
          </p:nvSpPr>
          <p:spPr>
            <a:xfrm>
              <a:off x="9223242" y="4966926"/>
              <a:ext cx="1594659" cy="540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資料</a:t>
              </a:r>
              <a:r>
                <a:rPr lang="zh-TW" altLang="en-US" dirty="0" smtClean="0"/>
                <a:t>存</a:t>
              </a:r>
              <a:r>
                <a:rPr lang="zh-TW" altLang="en-US" dirty="0"/>
                <a:t>取</a:t>
              </a:r>
              <a:r>
                <a:rPr lang="zh-TW" altLang="en-US" dirty="0" smtClean="0"/>
                <a:t>監控</a:t>
              </a:r>
              <a:endParaRPr lang="zh-TW" altLang="en-US" dirty="0"/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1543612" y="4967254"/>
            <a:ext cx="3392882" cy="1406590"/>
            <a:chOff x="1543612" y="4967254"/>
            <a:chExt cx="3392882" cy="1406590"/>
          </a:xfrm>
        </p:grpSpPr>
        <p:sp>
          <p:nvSpPr>
            <p:cNvPr id="61" name="矩形 60"/>
            <p:cNvSpPr/>
            <p:nvPr/>
          </p:nvSpPr>
          <p:spPr>
            <a:xfrm>
              <a:off x="1543612" y="5833844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商品</a:t>
              </a:r>
              <a:r>
                <a:rPr lang="zh-TW" altLang="en-US" dirty="0" smtClean="0"/>
                <a:t>管理</a:t>
              </a:r>
              <a:r>
                <a:rPr lang="zh-TW" altLang="en-US" dirty="0"/>
                <a:t>儲存</a:t>
              </a:r>
              <a:endParaRPr lang="zh-TW" altLang="en-US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3326643" y="4967254"/>
              <a:ext cx="1609851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客戶資料</a:t>
              </a:r>
              <a:r>
                <a:rPr lang="zh-TW" altLang="en-US" dirty="0"/>
                <a:t>儲存</a:t>
              </a:r>
              <a:endParaRPr lang="zh-TW" altLang="en-US" dirty="0"/>
            </a:p>
          </p:txBody>
        </p:sp>
        <p:sp>
          <p:nvSpPr>
            <p:cNvPr id="63" name="矩形 62"/>
            <p:cNvSpPr/>
            <p:nvPr/>
          </p:nvSpPr>
          <p:spPr>
            <a:xfrm>
              <a:off x="1543612" y="4967254"/>
              <a:ext cx="1581729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賣場</a:t>
              </a:r>
              <a:r>
                <a:rPr lang="zh-TW" altLang="en-US" dirty="0" smtClean="0"/>
                <a:t>管理儲存</a:t>
              </a:r>
              <a:endParaRPr lang="zh-TW" altLang="en-US" dirty="0"/>
            </a:p>
          </p:txBody>
        </p:sp>
        <p:sp>
          <p:nvSpPr>
            <p:cNvPr id="64" name="矩形 63"/>
            <p:cNvSpPr/>
            <p:nvPr/>
          </p:nvSpPr>
          <p:spPr>
            <a:xfrm>
              <a:off x="3326180" y="5833844"/>
              <a:ext cx="1610313" cy="540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訂單</a:t>
              </a:r>
              <a:r>
                <a:rPr lang="zh-TW" altLang="en-US" dirty="0" smtClean="0"/>
                <a:t>管理</a:t>
              </a:r>
              <a:r>
                <a:rPr lang="zh-TW" altLang="en-US" dirty="0"/>
                <a:t>儲存</a:t>
              </a:r>
              <a:endParaRPr lang="zh-TW" altLang="en-US" dirty="0"/>
            </a:p>
          </p:txBody>
        </p:sp>
      </p:grpSp>
      <p:sp>
        <p:nvSpPr>
          <p:cNvPr id="52" name="向右箭號 51"/>
          <p:cNvSpPr/>
          <p:nvPr/>
        </p:nvSpPr>
        <p:spPr>
          <a:xfrm>
            <a:off x="4714349" y="5402577"/>
            <a:ext cx="578426" cy="6553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向下箭號 56"/>
          <p:cNvSpPr/>
          <p:nvPr/>
        </p:nvSpPr>
        <p:spPr>
          <a:xfrm>
            <a:off x="2889827" y="4469071"/>
            <a:ext cx="673331" cy="66682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9072634" y="917939"/>
            <a:ext cx="3861970" cy="578211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99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les Direction 16X9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Direction_16x9_TP103431346" id="{94EB39F4-636E-4DEA-BA59-9A2F31DBD9B1}" vid="{D676E463-196C-4964-9CC7-448F2B5A5E65}"/>
    </a:ext>
  </a:extLst>
</a:theme>
</file>

<file path=ppt/theme/theme2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0D23229-ACB3-4158-AD37-197CF91833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企業方向簡報 (寬螢幕)</Template>
  <TotalTime>0</TotalTime>
  <Words>526</Words>
  <Application>Microsoft Office PowerPoint</Application>
  <PresentationFormat>寬螢幕</PresentationFormat>
  <Paragraphs>195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Microsoft JhengHei UI</vt:lpstr>
      <vt:lpstr>Arial</vt:lpstr>
      <vt:lpstr>Book Antiqua</vt:lpstr>
      <vt:lpstr>Sales Direction 16X9</vt:lpstr>
      <vt:lpstr>系統架構正交分解法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2016-05-06T16:18:07Z</dcterms:created>
  <dcterms:modified xsi:type="dcterms:W3CDTF">2016-07-22T09:05:20Z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TC034313749991</vt:lpwstr>
  </property>
</Properties>
</file>